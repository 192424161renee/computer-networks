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Cheddar" panose="020B0604020202020204" charset="0"/>
      <p:regular r:id="rId8"/>
    </p:embeddedFont>
    <p:embeddedFont>
      <p:font typeface="Telegraf" panose="020B0604020202020204" charset="0"/>
      <p:regular r:id="rId9"/>
    </p:embeddedFont>
    <p:embeddedFont>
      <p:font typeface="Telegraf Bold" panose="020B0604020202020204" charset="0"/>
      <p:regular r:id="rId10"/>
    </p:embeddedFont>
    <p:embeddedFont>
      <p:font typeface="Telegraf Medium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EF734A-99BD-4F1A-A86C-10CFA5557F6C}" v="1" dt="2026-07-15T05:59:45.8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ya Rajesh" userId="0339b64d257b40ac" providerId="LiveId" clId="{3FF5DCBB-052A-4796-B20E-6329FA13A482}"/>
    <pc:docChg chg="custSel modSld">
      <pc:chgData name="Ramya Rajesh" userId="0339b64d257b40ac" providerId="LiveId" clId="{3FF5DCBB-052A-4796-B20E-6329FA13A482}" dt="2026-07-15T06:08:09.741" v="69" actId="1076"/>
      <pc:docMkLst>
        <pc:docMk/>
      </pc:docMkLst>
      <pc:sldChg chg="addSp delSp modSp mod">
        <pc:chgData name="Ramya Rajesh" userId="0339b64d257b40ac" providerId="LiveId" clId="{3FF5DCBB-052A-4796-B20E-6329FA13A482}" dt="2026-07-15T06:08:09.741" v="69" actId="1076"/>
        <pc:sldMkLst>
          <pc:docMk/>
          <pc:sldMk cId="0" sldId="256"/>
        </pc:sldMkLst>
        <pc:spChg chg="del">
          <ac:chgData name="Ramya Rajesh" userId="0339b64d257b40ac" providerId="LiveId" clId="{3FF5DCBB-052A-4796-B20E-6329FA13A482}" dt="2026-07-15T02:44:20.863" v="0" actId="478"/>
          <ac:spMkLst>
            <pc:docMk/>
            <pc:sldMk cId="0" sldId="256"/>
            <ac:spMk id="2" creationId="{00000000-0000-0000-0000-000000000000}"/>
          </ac:spMkLst>
        </pc:spChg>
        <pc:spChg chg="mod">
          <ac:chgData name="Ramya Rajesh" userId="0339b64d257b40ac" providerId="LiveId" clId="{3FF5DCBB-052A-4796-B20E-6329FA13A482}" dt="2026-07-15T06:07:36.938" v="66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Ramya Rajesh" userId="0339b64d257b40ac" providerId="LiveId" clId="{3FF5DCBB-052A-4796-B20E-6329FA13A482}" dt="2026-07-15T06:08:09.741" v="69" actId="1076"/>
          <ac:spMkLst>
            <pc:docMk/>
            <pc:sldMk cId="0" sldId="256"/>
            <ac:spMk id="10" creationId="{00000000-0000-0000-0000-000000000000}"/>
          </ac:spMkLst>
        </pc:spChg>
        <pc:spChg chg="add mod">
          <ac:chgData name="Ramya Rajesh" userId="0339b64d257b40ac" providerId="LiveId" clId="{3FF5DCBB-052A-4796-B20E-6329FA13A482}" dt="2026-07-15T06:07:33.439" v="65" actId="14100"/>
          <ac:spMkLst>
            <pc:docMk/>
            <pc:sldMk cId="0" sldId="256"/>
            <ac:spMk id="15" creationId="{2969AC07-3352-F72C-7948-A6C3954AE342}"/>
          </ac:spMkLst>
        </pc:spChg>
        <pc:grpChg chg="mod">
          <ac:chgData name="Ramya Rajesh" userId="0339b64d257b40ac" providerId="LiveId" clId="{3FF5DCBB-052A-4796-B20E-6329FA13A482}" dt="2026-07-15T05:57:14.136" v="55" actId="1076"/>
          <ac:grpSpMkLst>
            <pc:docMk/>
            <pc:sldMk cId="0" sldId="256"/>
            <ac:grpSpMk id="3" creationId="{00000000-0000-0000-0000-000000000000}"/>
          </ac:grpSpMkLst>
        </pc:grpChg>
        <pc:grpChg chg="mod">
          <ac:chgData name="Ramya Rajesh" userId="0339b64d257b40ac" providerId="LiveId" clId="{3FF5DCBB-052A-4796-B20E-6329FA13A482}" dt="2026-07-15T05:57:16.448" v="56" actId="1076"/>
          <ac:grpSpMkLst>
            <pc:docMk/>
            <pc:sldMk cId="0" sldId="256"/>
            <ac:grpSpMk id="6" creationId="{00000000-0000-0000-0000-000000000000}"/>
          </ac:grpSpMkLst>
        </pc:grpChg>
        <pc:picChg chg="add mod">
          <ac:chgData name="Ramya Rajesh" userId="0339b64d257b40ac" providerId="LiveId" clId="{3FF5DCBB-052A-4796-B20E-6329FA13A482}" dt="2026-07-15T02:47:53.393" v="17" actId="14100"/>
          <ac:picMkLst>
            <pc:docMk/>
            <pc:sldMk cId="0" sldId="256"/>
            <ac:picMk id="11" creationId="{6BF324C7-F54A-D9D4-8527-A199BA0E47B5}"/>
          </ac:picMkLst>
        </pc:picChg>
        <pc:picChg chg="add mod">
          <ac:chgData name="Ramya Rajesh" userId="0339b64d257b40ac" providerId="LiveId" clId="{3FF5DCBB-052A-4796-B20E-6329FA13A482}" dt="2026-07-15T05:56:52.726" v="52" actId="14100"/>
          <ac:picMkLst>
            <pc:docMk/>
            <pc:sldMk cId="0" sldId="256"/>
            <ac:picMk id="12" creationId="{E56B0386-1C95-281D-2ABB-4E3390FEF5BA}"/>
          </ac:picMkLst>
        </pc:picChg>
        <pc:picChg chg="add mod">
          <ac:chgData name="Ramya Rajesh" userId="0339b64d257b40ac" providerId="LiveId" clId="{3FF5DCBB-052A-4796-B20E-6329FA13A482}" dt="2026-07-15T05:59:56.137" v="61" actId="1076"/>
          <ac:picMkLst>
            <pc:docMk/>
            <pc:sldMk cId="0" sldId="256"/>
            <ac:picMk id="13" creationId="{C60E3E09-A45E-ABBA-3927-0233A0BE4122}"/>
          </ac:picMkLst>
        </pc:picChg>
      </pc:sldChg>
      <pc:sldChg chg="addSp modSp mod">
        <pc:chgData name="Ramya Rajesh" userId="0339b64d257b40ac" providerId="LiveId" clId="{3FF5DCBB-052A-4796-B20E-6329FA13A482}" dt="2026-07-15T02:50:17.193" v="26" actId="14100"/>
        <pc:sldMkLst>
          <pc:docMk/>
          <pc:sldMk cId="0" sldId="257"/>
        </pc:sldMkLst>
        <pc:picChg chg="add mod">
          <ac:chgData name="Ramya Rajesh" userId="0339b64d257b40ac" providerId="LiveId" clId="{3FF5DCBB-052A-4796-B20E-6329FA13A482}" dt="2026-07-15T02:50:17.193" v="26" actId="14100"/>
          <ac:picMkLst>
            <pc:docMk/>
            <pc:sldMk cId="0" sldId="257"/>
            <ac:picMk id="4" creationId="{EEC5079F-4D12-E6DF-5850-D320ECB61BA3}"/>
          </ac:picMkLst>
        </pc:picChg>
      </pc:sldChg>
      <pc:sldChg chg="addSp modSp mod">
        <pc:chgData name="Ramya Rajesh" userId="0339b64d257b40ac" providerId="LiveId" clId="{3FF5DCBB-052A-4796-B20E-6329FA13A482}" dt="2026-07-15T05:46:44.646" v="31" actId="1076"/>
        <pc:sldMkLst>
          <pc:docMk/>
          <pc:sldMk cId="0" sldId="258"/>
        </pc:sldMkLst>
        <pc:spChg chg="mod">
          <ac:chgData name="Ramya Rajesh" userId="0339b64d257b40ac" providerId="LiveId" clId="{3FF5DCBB-052A-4796-B20E-6329FA13A482}" dt="2026-07-15T05:46:43.089" v="30" actId="14100"/>
          <ac:spMkLst>
            <pc:docMk/>
            <pc:sldMk cId="0" sldId="258"/>
            <ac:spMk id="3" creationId="{00000000-0000-0000-0000-000000000000}"/>
          </ac:spMkLst>
        </pc:spChg>
        <pc:picChg chg="add mod">
          <ac:chgData name="Ramya Rajesh" userId="0339b64d257b40ac" providerId="LiveId" clId="{3FF5DCBB-052A-4796-B20E-6329FA13A482}" dt="2026-07-15T05:46:44.646" v="31" actId="1076"/>
          <ac:picMkLst>
            <pc:docMk/>
            <pc:sldMk cId="0" sldId="258"/>
            <ac:picMk id="4" creationId="{5A6C670A-7001-EF15-03D0-70BF445DAAB4}"/>
          </ac:picMkLst>
        </pc:picChg>
      </pc:sldChg>
      <pc:sldChg chg="addSp modSp mod">
        <pc:chgData name="Ramya Rajesh" userId="0339b64d257b40ac" providerId="LiveId" clId="{3FF5DCBB-052A-4796-B20E-6329FA13A482}" dt="2026-07-15T05:47:53.137" v="40" actId="1076"/>
        <pc:sldMkLst>
          <pc:docMk/>
          <pc:sldMk cId="0" sldId="259"/>
        </pc:sldMkLst>
        <pc:spChg chg="mod">
          <ac:chgData name="Ramya Rajesh" userId="0339b64d257b40ac" providerId="LiveId" clId="{3FF5DCBB-052A-4796-B20E-6329FA13A482}" dt="2026-07-15T05:47:42.669" v="36" actId="14100"/>
          <ac:spMkLst>
            <pc:docMk/>
            <pc:sldMk cId="0" sldId="259"/>
            <ac:spMk id="3" creationId="{00000000-0000-0000-0000-000000000000}"/>
          </ac:spMkLst>
        </pc:spChg>
        <pc:picChg chg="add mod">
          <ac:chgData name="Ramya Rajesh" userId="0339b64d257b40ac" providerId="LiveId" clId="{3FF5DCBB-052A-4796-B20E-6329FA13A482}" dt="2026-07-15T05:47:53.137" v="40" actId="1076"/>
          <ac:picMkLst>
            <pc:docMk/>
            <pc:sldMk cId="0" sldId="259"/>
            <ac:picMk id="4" creationId="{11380806-6338-0981-5AA1-E568ECDF5113}"/>
          </ac:picMkLst>
        </pc:picChg>
      </pc:sldChg>
      <pc:sldChg chg="addSp modSp mod">
        <pc:chgData name="Ramya Rajesh" userId="0339b64d257b40ac" providerId="LiveId" clId="{3FF5DCBB-052A-4796-B20E-6329FA13A482}" dt="2026-07-15T05:53:41.781" v="47" actId="1076"/>
        <pc:sldMkLst>
          <pc:docMk/>
          <pc:sldMk cId="0" sldId="260"/>
        </pc:sldMkLst>
        <pc:picChg chg="add mod">
          <ac:chgData name="Ramya Rajesh" userId="0339b64d257b40ac" providerId="LiveId" clId="{3FF5DCBB-052A-4796-B20E-6329FA13A482}" dt="2026-07-15T05:53:41.781" v="47" actId="1076"/>
          <ac:picMkLst>
            <pc:docMk/>
            <pc:sldMk cId="0" sldId="260"/>
            <ac:picMk id="15" creationId="{CF12AB19-556E-06A1-6C91-974D4167B21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2899571" y="5444103"/>
            <a:ext cx="4550946" cy="905000"/>
            <a:chOff x="0" y="0"/>
            <a:chExt cx="1146356" cy="2279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6356" cy="227964"/>
            </a:xfrm>
            <a:custGeom>
              <a:avLst/>
              <a:gdLst/>
              <a:ahLst/>
              <a:cxnLst/>
              <a:rect l="l" t="t" r="r" b="b"/>
              <a:pathLst>
                <a:path w="1146356" h="227964">
                  <a:moveTo>
                    <a:pt x="86760" y="0"/>
                  </a:moveTo>
                  <a:lnTo>
                    <a:pt x="1059596" y="0"/>
                  </a:lnTo>
                  <a:cubicBezTo>
                    <a:pt x="1107512" y="0"/>
                    <a:pt x="1146356" y="38844"/>
                    <a:pt x="1146356" y="86760"/>
                  </a:cubicBezTo>
                  <a:lnTo>
                    <a:pt x="1146356" y="141205"/>
                  </a:lnTo>
                  <a:cubicBezTo>
                    <a:pt x="1146356" y="164215"/>
                    <a:pt x="1137215" y="186282"/>
                    <a:pt x="1120945" y="202553"/>
                  </a:cubicBezTo>
                  <a:cubicBezTo>
                    <a:pt x="1104674" y="218823"/>
                    <a:pt x="1082606" y="227964"/>
                    <a:pt x="1059596" y="227964"/>
                  </a:cubicBezTo>
                  <a:lnTo>
                    <a:pt x="86760" y="227964"/>
                  </a:lnTo>
                  <a:cubicBezTo>
                    <a:pt x="38844" y="227964"/>
                    <a:pt x="0" y="189121"/>
                    <a:pt x="0" y="141205"/>
                  </a:cubicBezTo>
                  <a:lnTo>
                    <a:pt x="0" y="86760"/>
                  </a:lnTo>
                  <a:cubicBezTo>
                    <a:pt x="0" y="38844"/>
                    <a:pt x="38844" y="0"/>
                    <a:pt x="86760" y="0"/>
                  </a:cubicBezTo>
                  <a:close/>
                </a:path>
              </a:pathLst>
            </a:custGeom>
            <a:solidFill>
              <a:srgbClr val="E2A9F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1146356" cy="3232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PRESENTED BY: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899571" y="6538641"/>
            <a:ext cx="4550946" cy="905000"/>
            <a:chOff x="0" y="0"/>
            <a:chExt cx="1146356" cy="2279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6356" cy="227964"/>
            </a:xfrm>
            <a:custGeom>
              <a:avLst/>
              <a:gdLst/>
              <a:ahLst/>
              <a:cxnLst/>
              <a:rect l="l" t="t" r="r" b="b"/>
              <a:pathLst>
                <a:path w="1146356" h="227964">
                  <a:moveTo>
                    <a:pt x="86760" y="0"/>
                  </a:moveTo>
                  <a:lnTo>
                    <a:pt x="1059596" y="0"/>
                  </a:lnTo>
                  <a:cubicBezTo>
                    <a:pt x="1107512" y="0"/>
                    <a:pt x="1146356" y="38844"/>
                    <a:pt x="1146356" y="86760"/>
                  </a:cubicBezTo>
                  <a:lnTo>
                    <a:pt x="1146356" y="141205"/>
                  </a:lnTo>
                  <a:cubicBezTo>
                    <a:pt x="1146356" y="164215"/>
                    <a:pt x="1137215" y="186282"/>
                    <a:pt x="1120945" y="202553"/>
                  </a:cubicBezTo>
                  <a:cubicBezTo>
                    <a:pt x="1104674" y="218823"/>
                    <a:pt x="1082606" y="227964"/>
                    <a:pt x="1059596" y="227964"/>
                  </a:cubicBezTo>
                  <a:lnTo>
                    <a:pt x="86760" y="227964"/>
                  </a:lnTo>
                  <a:cubicBezTo>
                    <a:pt x="38844" y="227964"/>
                    <a:pt x="0" y="189121"/>
                    <a:pt x="0" y="141205"/>
                  </a:cubicBezTo>
                  <a:lnTo>
                    <a:pt x="0" y="86760"/>
                  </a:lnTo>
                  <a:cubicBezTo>
                    <a:pt x="0" y="38844"/>
                    <a:pt x="38844" y="0"/>
                    <a:pt x="86760" y="0"/>
                  </a:cubicBezTo>
                  <a:close/>
                </a:path>
              </a:pathLst>
            </a:custGeom>
            <a:solidFill>
              <a:srgbClr val="8C52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95250"/>
              <a:ext cx="1146356" cy="3232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RENEE VINCENT ASR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577385" y="2731951"/>
            <a:ext cx="8305800" cy="2173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999"/>
              </a:lnSpc>
            </a:pPr>
            <a:r>
              <a:rPr lang="en-US" sz="6000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MACHINE LEARNING BASED ERROR DETECTION IN NETWORKS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371942" y="7855305"/>
            <a:ext cx="5912912" cy="1390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2"/>
              </a:lnSpc>
            </a:pPr>
            <a:r>
              <a:rPr lang="en-US" sz="3562" b="1" spc="174" dirty="0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BTECH AI&amp;DS</a:t>
            </a:r>
          </a:p>
          <a:p>
            <a:pPr algn="r">
              <a:lnSpc>
                <a:spcPts val="3562"/>
              </a:lnSpc>
            </a:pPr>
            <a:r>
              <a:rPr lang="en-US" sz="3562" b="1" spc="174" dirty="0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CSA0714</a:t>
            </a:r>
          </a:p>
          <a:p>
            <a:pPr algn="r">
              <a:lnSpc>
                <a:spcPts val="3562"/>
              </a:lnSpc>
            </a:pPr>
            <a:r>
              <a:rPr lang="en-US" sz="3562" b="1" spc="174" dirty="0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COMPUTER NETWORKS</a:t>
            </a:r>
          </a:p>
        </p:txBody>
      </p:sp>
      <p:pic>
        <p:nvPicPr>
          <p:cNvPr id="11" name="Picture 10" descr="Error Detection in Data Transmission: Methods, Metrics &amp; Examples">
            <a:extLst>
              <a:ext uri="{FF2B5EF4-FFF2-40B4-BE49-F238E27FC236}">
                <a16:creationId xmlns:a16="http://schemas.microsoft.com/office/drawing/2014/main" id="{6BF324C7-F54A-D9D4-8527-A199BA0E4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146" y="3238501"/>
            <a:ext cx="7683653" cy="60450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56B0386-1C95-281D-2ABB-4E3390FEF5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92479"/>
            <a:ext cx="1600200" cy="15716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60E3E09-A45E-ABBA-3927-0233A0BE41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82965" y="392478"/>
            <a:ext cx="1700220" cy="1534921"/>
          </a:xfrm>
          <a:prstGeom prst="rect">
            <a:avLst/>
          </a:prstGeom>
        </p:spPr>
      </p:pic>
      <p:sp>
        <p:nvSpPr>
          <p:cNvPr id="15" name="Freeform 8">
            <a:extLst>
              <a:ext uri="{FF2B5EF4-FFF2-40B4-BE49-F238E27FC236}">
                <a16:creationId xmlns:a16="http://schemas.microsoft.com/office/drawing/2014/main" id="{2969AC07-3352-F72C-7948-A6C3954AE342}"/>
              </a:ext>
            </a:extLst>
          </p:cNvPr>
          <p:cNvSpPr/>
          <p:nvPr/>
        </p:nvSpPr>
        <p:spPr>
          <a:xfrm>
            <a:off x="3048000" y="404242"/>
            <a:ext cx="12725400" cy="1767458"/>
          </a:xfrm>
          <a:custGeom>
            <a:avLst/>
            <a:gdLst/>
            <a:ahLst/>
            <a:cxnLst/>
            <a:rect l="l" t="t" r="r" b="b"/>
            <a:pathLst>
              <a:path w="10529655" h="2157426">
                <a:moveTo>
                  <a:pt x="0" y="0"/>
                </a:moveTo>
                <a:lnTo>
                  <a:pt x="10529655" y="0"/>
                </a:lnTo>
                <a:lnTo>
                  <a:pt x="10529655" y="2157426"/>
                </a:lnTo>
                <a:lnTo>
                  <a:pt x="0" y="21574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9117" b="-33774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32805" y="2760841"/>
            <a:ext cx="8099392" cy="6764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0838" lvl="1" indent="-360419" algn="just">
              <a:lnSpc>
                <a:spcPts val="5342"/>
              </a:lnSpc>
              <a:buFont typeface="Arial"/>
              <a:buChar char="•"/>
            </a:pPr>
            <a:r>
              <a:rPr lang="en-US" sz="3338" b="1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Network errors reduce communication speed and reliability.</a:t>
            </a:r>
          </a:p>
          <a:p>
            <a:pPr marL="720838" lvl="1" indent="-360419" algn="just">
              <a:lnSpc>
                <a:spcPts val="5342"/>
              </a:lnSpc>
              <a:buFont typeface="Arial"/>
              <a:buChar char="•"/>
            </a:pPr>
            <a:r>
              <a:rPr lang="en-US" sz="3338" b="1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Traditional methods cannot detect unknown network issues effectively.</a:t>
            </a:r>
          </a:p>
          <a:p>
            <a:pPr marL="720838" lvl="1" indent="-360419" algn="just">
              <a:lnSpc>
                <a:spcPts val="5342"/>
              </a:lnSpc>
              <a:buFont typeface="Arial"/>
              <a:buChar char="•"/>
            </a:pPr>
            <a:r>
              <a:rPr lang="en-US" sz="3338" b="1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Machine Learning learns patterns from network traffic data.</a:t>
            </a:r>
          </a:p>
          <a:p>
            <a:pPr marL="720838" lvl="1" indent="-360419" algn="just">
              <a:lnSpc>
                <a:spcPts val="5342"/>
              </a:lnSpc>
              <a:buFont typeface="Arial"/>
              <a:buChar char="•"/>
            </a:pPr>
            <a:r>
              <a:rPr lang="en-US" sz="3338" b="1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It helps detect errors automatically with higher accuracy.</a:t>
            </a:r>
          </a:p>
          <a:p>
            <a:pPr algn="just">
              <a:lnSpc>
                <a:spcPts val="5342"/>
              </a:lnSpc>
            </a:pPr>
            <a:endParaRPr lang="en-US" sz="3338" b="1">
              <a:solidFill>
                <a:srgbClr val="290606"/>
              </a:solidFill>
              <a:latin typeface="Telegraf Medium"/>
              <a:ea typeface="Telegraf Medium"/>
              <a:cs typeface="Telegraf Medium"/>
              <a:sym typeface="Telegraf Medium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9232805" y="643148"/>
            <a:ext cx="7602372" cy="1852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653"/>
              </a:lnSpc>
            </a:pPr>
            <a:r>
              <a:rPr lang="en-US" sz="6653" spc="326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INTRODUCTION &amp; PROBLEM STATEMENT</a:t>
            </a:r>
          </a:p>
        </p:txBody>
      </p:sp>
      <p:pic>
        <p:nvPicPr>
          <p:cNvPr id="4" name="Picture 3" descr="Error Analysis for Machine Learning Classification Models">
            <a:extLst>
              <a:ext uri="{FF2B5EF4-FFF2-40B4-BE49-F238E27FC236}">
                <a16:creationId xmlns:a16="http://schemas.microsoft.com/office/drawing/2014/main" id="{EEC5079F-4D12-E6DF-5850-D320ECB61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43148"/>
            <a:ext cx="8293197" cy="90028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35814" y="1019175"/>
            <a:ext cx="8927786" cy="195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SYSTEM ARCHITECTURE &amp; METHODOLOGY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755881"/>
            <a:ext cx="8801100" cy="55215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63570" lvl="1" indent="-431785" algn="just">
              <a:lnSpc>
                <a:spcPts val="4799"/>
              </a:lnSpc>
              <a:buFont typeface="Arial"/>
              <a:buChar char="•"/>
            </a:pPr>
            <a:r>
              <a:rPr lang="en-US" sz="3999" spc="195" dirty="0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Collect network traffic from devices and servers.</a:t>
            </a:r>
          </a:p>
          <a:p>
            <a:pPr marL="863570" lvl="1" indent="-431785" algn="just">
              <a:lnSpc>
                <a:spcPts val="4799"/>
              </a:lnSpc>
              <a:buFont typeface="Arial"/>
              <a:buChar char="•"/>
            </a:pPr>
            <a:r>
              <a:rPr lang="en-US" sz="3999" spc="195" dirty="0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Clean and preprocess the collected data.</a:t>
            </a:r>
          </a:p>
          <a:p>
            <a:pPr marL="863570" lvl="1" indent="-431785" algn="just">
              <a:lnSpc>
                <a:spcPts val="4799"/>
              </a:lnSpc>
              <a:buFont typeface="Arial"/>
              <a:buChar char="•"/>
            </a:pPr>
            <a:r>
              <a:rPr lang="en-US" sz="3999" spc="195" dirty="0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Train a Machine Learning model using network features.</a:t>
            </a:r>
          </a:p>
          <a:p>
            <a:pPr marL="863570" lvl="1" indent="-431785" algn="just">
              <a:lnSpc>
                <a:spcPts val="4799"/>
              </a:lnSpc>
              <a:buFont typeface="Arial"/>
              <a:buChar char="•"/>
            </a:pPr>
            <a:r>
              <a:rPr lang="en-US" sz="3999" spc="195" dirty="0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Detect errors and generate alerts in real time.</a:t>
            </a:r>
          </a:p>
          <a:p>
            <a:pPr algn="just">
              <a:lnSpc>
                <a:spcPts val="4799"/>
              </a:lnSpc>
            </a:pPr>
            <a:endParaRPr lang="en-US" sz="3999" spc="195" dirty="0">
              <a:solidFill>
                <a:srgbClr val="290606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pic>
        <p:nvPicPr>
          <p:cNvPr id="4" name="Picture 3" descr="Early Fault Detection in Predictive Maintenance - Sensemore">
            <a:extLst>
              <a:ext uri="{FF2B5EF4-FFF2-40B4-BE49-F238E27FC236}">
                <a16:creationId xmlns:a16="http://schemas.microsoft.com/office/drawing/2014/main" id="{5A6C670A-7001-EF15-03D0-70BF445DA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800" y="1285875"/>
            <a:ext cx="7715250" cy="7715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19175"/>
            <a:ext cx="8115300" cy="195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MACHINE LEARNING ALGORITHMS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42900" y="3126975"/>
            <a:ext cx="8953500" cy="7078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33854" lvl="1" indent="-416927" algn="just">
              <a:lnSpc>
                <a:spcPts val="4634"/>
              </a:lnSpc>
              <a:buFont typeface="Arial"/>
              <a:buChar char="•"/>
            </a:pPr>
            <a:r>
              <a:rPr lang="en-US" sz="3862" spc="189" dirty="0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Decision Tree classifies network traffic into normal or abnormal.</a:t>
            </a:r>
          </a:p>
          <a:p>
            <a:pPr marL="833854" lvl="1" indent="-416927" algn="just">
              <a:lnSpc>
                <a:spcPts val="4634"/>
              </a:lnSpc>
              <a:buFont typeface="Arial"/>
              <a:buChar char="•"/>
            </a:pPr>
            <a:r>
              <a:rPr lang="en-US" sz="3862" spc="189" dirty="0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Random Forest improves detection accuracy using multiple trees.</a:t>
            </a:r>
          </a:p>
          <a:p>
            <a:pPr marL="833854" lvl="1" indent="-416927" algn="just">
              <a:lnSpc>
                <a:spcPts val="4634"/>
              </a:lnSpc>
              <a:buFont typeface="Arial"/>
              <a:buChar char="•"/>
            </a:pPr>
            <a:r>
              <a:rPr lang="en-US" sz="3862" spc="189" dirty="0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Support Vector Machine (SVM) separates normal and error data efficiently.</a:t>
            </a:r>
          </a:p>
          <a:p>
            <a:pPr marL="833854" lvl="1" indent="-416927" algn="just">
              <a:lnSpc>
                <a:spcPts val="4634"/>
              </a:lnSpc>
              <a:buFont typeface="Arial"/>
              <a:buChar char="•"/>
            </a:pPr>
            <a:r>
              <a:rPr lang="en-US" sz="3862" spc="189" dirty="0" err="1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XGBoost</a:t>
            </a:r>
            <a:r>
              <a:rPr lang="en-US" sz="3862" spc="189" dirty="0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 provides fast and highly accurate error detection.</a:t>
            </a:r>
          </a:p>
          <a:p>
            <a:pPr algn="just">
              <a:lnSpc>
                <a:spcPts val="4634"/>
              </a:lnSpc>
            </a:pPr>
            <a:endParaRPr lang="en-US" sz="3862" spc="189" dirty="0">
              <a:solidFill>
                <a:srgbClr val="290606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pic>
        <p:nvPicPr>
          <p:cNvPr id="4" name="Picture 3" descr="Fundamental Series on Building Analytics: What is Fault Detection and  Diagnostics? - CopperTree Analytics">
            <a:extLst>
              <a:ext uri="{FF2B5EF4-FFF2-40B4-BE49-F238E27FC236}">
                <a16:creationId xmlns:a16="http://schemas.microsoft.com/office/drawing/2014/main" id="{11380806-6338-0981-5AA1-E568ECDF5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0" y="1257300"/>
            <a:ext cx="780288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10898" y="2978150"/>
            <a:ext cx="9387484" cy="1422908"/>
            <a:chOff x="0" y="0"/>
            <a:chExt cx="2472424" cy="3747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72424" cy="374758"/>
            </a:xfrm>
            <a:custGeom>
              <a:avLst/>
              <a:gdLst/>
              <a:ahLst/>
              <a:cxnLst/>
              <a:rect l="l" t="t" r="r" b="b"/>
              <a:pathLst>
                <a:path w="2472424" h="37475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32698"/>
                  </a:lnTo>
                  <a:cubicBezTo>
                    <a:pt x="2472424" y="355927"/>
                    <a:pt x="2453593" y="374758"/>
                    <a:pt x="2430364" y="374758"/>
                  </a:cubicBezTo>
                  <a:lnTo>
                    <a:pt x="42060" y="374758"/>
                  </a:lnTo>
                  <a:cubicBezTo>
                    <a:pt x="30905" y="374758"/>
                    <a:pt x="20207" y="370326"/>
                    <a:pt x="12319" y="362439"/>
                  </a:cubicBezTo>
                  <a:cubicBezTo>
                    <a:pt x="4431" y="354551"/>
                    <a:pt x="0" y="343853"/>
                    <a:pt x="0" y="33269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E2A9F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14300"/>
              <a:ext cx="2472424" cy="4890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r>
                <a:rPr lang="en-US" sz="3500" b="1" dirty="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Achieves high accuracy in detecting network errors.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10898" y="4578265"/>
            <a:ext cx="9387484" cy="1422908"/>
            <a:chOff x="0" y="0"/>
            <a:chExt cx="2472424" cy="3747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72424" cy="374758"/>
            </a:xfrm>
            <a:custGeom>
              <a:avLst/>
              <a:gdLst/>
              <a:ahLst/>
              <a:cxnLst/>
              <a:rect l="l" t="t" r="r" b="b"/>
              <a:pathLst>
                <a:path w="2472424" h="37475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32698"/>
                  </a:lnTo>
                  <a:cubicBezTo>
                    <a:pt x="2472424" y="355927"/>
                    <a:pt x="2453593" y="374758"/>
                    <a:pt x="2430364" y="374758"/>
                  </a:cubicBezTo>
                  <a:lnTo>
                    <a:pt x="42060" y="374758"/>
                  </a:lnTo>
                  <a:cubicBezTo>
                    <a:pt x="30905" y="374758"/>
                    <a:pt x="20207" y="370326"/>
                    <a:pt x="12319" y="362439"/>
                  </a:cubicBezTo>
                  <a:cubicBezTo>
                    <a:pt x="4431" y="354551"/>
                    <a:pt x="0" y="343853"/>
                    <a:pt x="0" y="33269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E2A9F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14300"/>
              <a:ext cx="2472424" cy="4890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Reduces false alarms and manual monitoring efforts.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10898" y="6182148"/>
            <a:ext cx="9387484" cy="1422908"/>
            <a:chOff x="0" y="0"/>
            <a:chExt cx="2472424" cy="3747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72424" cy="374758"/>
            </a:xfrm>
            <a:custGeom>
              <a:avLst/>
              <a:gdLst/>
              <a:ahLst/>
              <a:cxnLst/>
              <a:rect l="l" t="t" r="r" b="b"/>
              <a:pathLst>
                <a:path w="2472424" h="37475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32698"/>
                  </a:lnTo>
                  <a:cubicBezTo>
                    <a:pt x="2472424" y="355927"/>
                    <a:pt x="2453593" y="374758"/>
                    <a:pt x="2430364" y="374758"/>
                  </a:cubicBezTo>
                  <a:lnTo>
                    <a:pt x="42060" y="374758"/>
                  </a:lnTo>
                  <a:cubicBezTo>
                    <a:pt x="30905" y="374758"/>
                    <a:pt x="20207" y="370326"/>
                    <a:pt x="12319" y="362439"/>
                  </a:cubicBezTo>
                  <a:cubicBezTo>
                    <a:pt x="4431" y="354551"/>
                    <a:pt x="0" y="343853"/>
                    <a:pt x="0" y="33269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E2A9F1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14300"/>
              <a:ext cx="2472424" cy="4890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Improves network performance and security.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410898" y="838200"/>
            <a:ext cx="8115300" cy="195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RESULTS, ADVANTAGES &amp; APPLICATIONS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410898" y="7786031"/>
            <a:ext cx="9387484" cy="1422908"/>
            <a:chOff x="0" y="0"/>
            <a:chExt cx="2472424" cy="37475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72424" cy="374758"/>
            </a:xfrm>
            <a:custGeom>
              <a:avLst/>
              <a:gdLst/>
              <a:ahLst/>
              <a:cxnLst/>
              <a:rect l="l" t="t" r="r" b="b"/>
              <a:pathLst>
                <a:path w="2472424" h="37475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32698"/>
                  </a:lnTo>
                  <a:cubicBezTo>
                    <a:pt x="2472424" y="355927"/>
                    <a:pt x="2453593" y="374758"/>
                    <a:pt x="2430364" y="374758"/>
                  </a:cubicBezTo>
                  <a:lnTo>
                    <a:pt x="42060" y="374758"/>
                  </a:lnTo>
                  <a:cubicBezTo>
                    <a:pt x="30905" y="374758"/>
                    <a:pt x="20207" y="370326"/>
                    <a:pt x="12319" y="362439"/>
                  </a:cubicBezTo>
                  <a:cubicBezTo>
                    <a:pt x="4431" y="354551"/>
                    <a:pt x="0" y="343853"/>
                    <a:pt x="0" y="33269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E2A9F1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114300"/>
              <a:ext cx="2472424" cy="4890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Used in cloud computing, IoT, enterprise networks, and data centers.</a:t>
              </a:r>
            </a:p>
          </p:txBody>
        </p:sp>
      </p:grpSp>
      <p:pic>
        <p:nvPicPr>
          <p:cNvPr id="15" name="Picture 14" descr="Fault Detection and Diagnostics Software | Advanced Anomaly Detection">
            <a:extLst>
              <a:ext uri="{FF2B5EF4-FFF2-40B4-BE49-F238E27FC236}">
                <a16:creationId xmlns:a16="http://schemas.microsoft.com/office/drawing/2014/main" id="{CF12AB19-556E-06A1-6C91-974D4167B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00" y="986704"/>
            <a:ext cx="6629400" cy="81720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25203" y="1028700"/>
            <a:ext cx="4214572" cy="3621897"/>
            <a:chOff x="0" y="0"/>
            <a:chExt cx="812800" cy="698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C97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14300" y="19050"/>
              <a:ext cx="5842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00"/>
                </a:lnSpc>
              </a:pPr>
              <a:r>
                <a:rPr lang="en-US" sz="3200" b="1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Deep Learning can further enhance detection accuracy.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625203" y="4842807"/>
            <a:ext cx="4214572" cy="3621897"/>
            <a:chOff x="0" y="0"/>
            <a:chExt cx="812800" cy="698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C97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14300" y="19050"/>
              <a:ext cx="5842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00"/>
                </a:lnSpc>
              </a:pPr>
              <a:r>
                <a:rPr lang="en-US" sz="3200" b="1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Future systems will support self-healing and automated network management.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329780" y="2988141"/>
            <a:ext cx="4214572" cy="3621897"/>
            <a:chOff x="0" y="0"/>
            <a:chExt cx="812800" cy="6985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E2A9F1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14300" y="19050"/>
              <a:ext cx="5842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00"/>
                </a:lnSpc>
              </a:pPr>
              <a:r>
                <a:rPr lang="en-US" sz="3200" b="1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It improves reliability through real-time monitoring.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911102" y="2930991"/>
            <a:ext cx="4214572" cy="3621897"/>
            <a:chOff x="0" y="0"/>
            <a:chExt cx="812800" cy="6985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E2A9F1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14300" y="19050"/>
              <a:ext cx="5842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00"/>
                </a:lnSpc>
              </a:pPr>
              <a:r>
                <a:rPr lang="en-US" sz="3200" b="1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Real-time monitoring will help prevent network failures before they occur.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920627" y="6720431"/>
            <a:ext cx="4214572" cy="3621897"/>
            <a:chOff x="0" y="0"/>
            <a:chExt cx="812800" cy="6985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E2A9F1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114300" y="19050"/>
              <a:ext cx="5842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00"/>
                </a:lnSpc>
              </a:pPr>
              <a:r>
                <a:rPr lang="en-US" sz="3200" b="1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Thank You!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034356" y="4947582"/>
            <a:ext cx="4214572" cy="3621897"/>
            <a:chOff x="0" y="0"/>
            <a:chExt cx="812800" cy="6985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C97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14300" y="28575"/>
              <a:ext cx="5842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9"/>
                </a:lnSpc>
              </a:pPr>
              <a:r>
                <a:rPr lang="en-US" sz="3199" b="1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Machine Learning enables intelligent network error detection.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28700" y="1019175"/>
            <a:ext cx="7346179" cy="195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CONCLUSION &amp; FUTURE SCOPE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232</Words>
  <Application>Microsoft Office PowerPoint</Application>
  <PresentationFormat>Custom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Telegraf Bold</vt:lpstr>
      <vt:lpstr>Calibri</vt:lpstr>
      <vt:lpstr>Cheddar</vt:lpstr>
      <vt:lpstr>Telegraf Medium</vt:lpstr>
      <vt:lpstr>Telegraf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and Orange Vibrant Animated AI and Machine Learning Presentation</dc:title>
  <cp:lastModifiedBy>Ramya Rajesh</cp:lastModifiedBy>
  <cp:revision>1</cp:revision>
  <dcterms:created xsi:type="dcterms:W3CDTF">2006-08-16T00:00:00Z</dcterms:created>
  <dcterms:modified xsi:type="dcterms:W3CDTF">2026-07-15T06:08:14Z</dcterms:modified>
  <dc:identifier>DAHPYhO10BQ</dc:identifier>
</cp:coreProperties>
</file>